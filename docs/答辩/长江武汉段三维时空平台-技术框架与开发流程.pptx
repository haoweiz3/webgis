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0d93b28de4cf1" /><Relationship Type="http://schemas.openxmlformats.org/officeDocument/2006/relationships/extended-properties" Target="/docProps/app.xml" Id="Ra7b3a85c00014675" /><Relationship Type="http://schemas.openxmlformats.org/officeDocument/2006/relationships/officeDocument" Target="/ppt/presentation.xml" Id="Rdacdf4bee4b548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43e0aed0343c7"/>
  </p:sldMasterIdLst>
  <p:notesMasterIdLst>
    <p:notesMasterId xmlns:r="http://schemas.openxmlformats.org/officeDocument/2006/relationships" r:id="Rb4932906c2754997"/>
  </p:notesMasterIdLst>
  <p:sldIdLst>
    <p:sldId xmlns:r="http://schemas.openxmlformats.org/officeDocument/2006/relationships" id="256" r:id="R0379c3dd39674ae2"/>
    <p:sldId xmlns:r="http://schemas.openxmlformats.org/officeDocument/2006/relationships" id="257" r:id="Rd47490f1f3f04e26"/>
    <p:sldId xmlns:r="http://schemas.openxmlformats.org/officeDocument/2006/relationships" id="258" r:id="R3d4ee2be8fe6432b"/>
    <p:sldId xmlns:r="http://schemas.openxmlformats.org/officeDocument/2006/relationships" id="259" r:id="Rbc34384a61f14f58"/>
    <p:sldId xmlns:r="http://schemas.openxmlformats.org/officeDocument/2006/relationships" id="260" r:id="R77cf69987fa94505"/>
    <p:sldId xmlns:r="http://schemas.openxmlformats.org/officeDocument/2006/relationships" id="261" r:id="R4fcc955f5f184657"/>
    <p:sldId xmlns:r="http://schemas.openxmlformats.org/officeDocument/2006/relationships" id="262" r:id="R17be9d4cdee54757"/>
    <p:sldId xmlns:r="http://schemas.openxmlformats.org/officeDocument/2006/relationships" id="263" r:id="R36574bdc2cc7450d"/>
    <p:sldId xmlns:r="http://schemas.openxmlformats.org/officeDocument/2006/relationships" id="264" r:id="Rbac4524d54cd46ef"/>
    <p:sldId xmlns:r="http://schemas.openxmlformats.org/officeDocument/2006/relationships" id="265" r:id="R303719c1e24648b1"/>
    <p:sldId xmlns:r="http://schemas.openxmlformats.org/officeDocument/2006/relationships" id="266" r:id="R0f37f401719547c7"/>
    <p:sldId xmlns:r="http://schemas.openxmlformats.org/officeDocument/2006/relationships" id="267" r:id="Refe877590f454b3a"/>
    <p:sldId xmlns:r="http://schemas.openxmlformats.org/officeDocument/2006/relationships" id="268" r:id="Rc0968492d7344786"/>
    <p:sldId xmlns:r="http://schemas.openxmlformats.org/officeDocument/2006/relationships" id="269" r:id="R6f49b2921b254eb2"/>
    <p:sldId xmlns:r="http://schemas.openxmlformats.org/officeDocument/2006/relationships" id="270" r:id="Re12462252b1747f2"/>
    <p:sldId xmlns:r="http://schemas.openxmlformats.org/officeDocument/2006/relationships" id="271" r:id="R507e6cb98938499d"/>
    <p:sldId xmlns:r="http://schemas.openxmlformats.org/officeDocument/2006/relationships" id="272" r:id="Ra7866cddf31d4e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a1fcc372ab46c1" /><Relationship Type="http://schemas.openxmlformats.org/officeDocument/2006/relationships/slideMaster" Target="/ppt/slideMasters/slideMaster1.xml" Id="R6fa43e0aed0343c7" /><Relationship Type="http://schemas.openxmlformats.org/officeDocument/2006/relationships/notesMaster" Target="/ppt/notesMasters/notesMaster1.xml" Id="Rb4932906c2754997" /><Relationship Type="http://schemas.openxmlformats.org/officeDocument/2006/relationships/presProps" Target="/ppt/presProps.xml" Id="R4b4dcb7c5d83454b" /><Relationship Type="http://schemas.openxmlformats.org/officeDocument/2006/relationships/tableStyles" Target="/ppt/tableStyles.xml" Id="R272bcf2f6a434d11" /><Relationship Type="http://schemas.openxmlformats.org/officeDocument/2006/relationships/slide" Target="/ppt/slides/slide1.xml" Id="R0379c3dd39674ae2" /><Relationship Type="http://schemas.openxmlformats.org/officeDocument/2006/relationships/slide" Target="/ppt/slides/slide2.xml" Id="Rd47490f1f3f04e26" /><Relationship Type="http://schemas.openxmlformats.org/officeDocument/2006/relationships/slide" Target="/ppt/slides/slide3.xml" Id="R3d4ee2be8fe6432b" /><Relationship Type="http://schemas.openxmlformats.org/officeDocument/2006/relationships/slide" Target="/ppt/slides/slide4.xml" Id="Rbc34384a61f14f58" /><Relationship Type="http://schemas.openxmlformats.org/officeDocument/2006/relationships/slide" Target="/ppt/slides/slide5.xml" Id="R77cf69987fa94505" /><Relationship Type="http://schemas.openxmlformats.org/officeDocument/2006/relationships/slide" Target="/ppt/slides/slide6.xml" Id="R4fcc955f5f184657" /><Relationship Type="http://schemas.openxmlformats.org/officeDocument/2006/relationships/slide" Target="/ppt/slides/slide7.xml" Id="R17be9d4cdee54757" /><Relationship Type="http://schemas.openxmlformats.org/officeDocument/2006/relationships/slide" Target="/ppt/slides/slide8.xml" Id="R36574bdc2cc7450d" /><Relationship Type="http://schemas.openxmlformats.org/officeDocument/2006/relationships/slide" Target="/ppt/slides/slide9.xml" Id="Rbac4524d54cd46ef" /><Relationship Type="http://schemas.openxmlformats.org/officeDocument/2006/relationships/slide" Target="/ppt/slides/slide10.xml" Id="R303719c1e24648b1" /><Relationship Type="http://schemas.openxmlformats.org/officeDocument/2006/relationships/slide" Target="/ppt/slides/slide11.xml" Id="R0f37f401719547c7" /><Relationship Type="http://schemas.openxmlformats.org/officeDocument/2006/relationships/slide" Target="/ppt/slides/slide12.xml" Id="Refe877590f454b3a" /><Relationship Type="http://schemas.openxmlformats.org/officeDocument/2006/relationships/slide" Target="/ppt/slides/slide13.xml" Id="Rc0968492d7344786" /><Relationship Type="http://schemas.openxmlformats.org/officeDocument/2006/relationships/slide" Target="/ppt/slides/slide14.xml" Id="R6f49b2921b254eb2" /><Relationship Type="http://schemas.openxmlformats.org/officeDocument/2006/relationships/slide" Target="/ppt/slides/slide15.xml" Id="Re12462252b1747f2" /><Relationship Type="http://schemas.openxmlformats.org/officeDocument/2006/relationships/slide" Target="/ppt/slides/slide16.xml" Id="R507e6cb98938499d" /><Relationship Type="http://schemas.openxmlformats.org/officeDocument/2006/relationships/slide" Target="/ppt/slides/slide17.xml" Id="Ra7866cddf31d4e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92ad76d48e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26d08eeb52482a" /><Relationship Type="http://schemas.openxmlformats.org/officeDocument/2006/relationships/notesMaster" Target="/ppt/notesMasters/notesMaster1.xml" Id="R2d70ebd224fd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6702849fd49a9" /><Relationship Type="http://schemas.openxmlformats.org/officeDocument/2006/relationships/notesMaster" Target="/ppt/notesMasters/notesMaster1.xml" Id="R9a5dc82a54c9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9b660841a4c76" /><Relationship Type="http://schemas.openxmlformats.org/officeDocument/2006/relationships/notesMaster" Target="/ppt/notesMasters/notesMaster1.xml" Id="R1474f9ac98bb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36cc09a0854aa1" /><Relationship Type="http://schemas.openxmlformats.org/officeDocument/2006/relationships/notesMaster" Target="/ppt/notesMasters/notesMaster1.xml" Id="R67da0254a4c2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a99be5186547cf" /><Relationship Type="http://schemas.openxmlformats.org/officeDocument/2006/relationships/notesMaster" Target="/ppt/notesMasters/notesMaster1.xml" Id="R7361df2bbc3648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ef06959b842f3" /><Relationship Type="http://schemas.openxmlformats.org/officeDocument/2006/relationships/notesMaster" Target="/ppt/notesMasters/notesMaster1.xml" Id="Red6bd157a55746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f93d5816b74acd" /><Relationship Type="http://schemas.openxmlformats.org/officeDocument/2006/relationships/notesMaster" Target="/ppt/notesMasters/notesMaster1.xml" Id="Rdba5b11a163c44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03f7b67f584755" /><Relationship Type="http://schemas.openxmlformats.org/officeDocument/2006/relationships/notesMaster" Target="/ppt/notesMasters/notesMaster1.xml" Id="R485be27cf01340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3f5d305474ec1" /><Relationship Type="http://schemas.openxmlformats.org/officeDocument/2006/relationships/notesMaster" Target="/ppt/notesMasters/notesMaster1.xml" Id="R3acd7ad0b8f74a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344c39880e4d37" /><Relationship Type="http://schemas.openxmlformats.org/officeDocument/2006/relationships/notesMaster" Target="/ppt/notesMasters/notesMaster1.xml" Id="R247e95b31d2f45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b6cb4e572a4877" /><Relationship Type="http://schemas.openxmlformats.org/officeDocument/2006/relationships/notesMaster" Target="/ppt/notesMasters/notesMaster1.xml" Id="R5307039ab7c947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1338c74a8b43a2" /><Relationship Type="http://schemas.openxmlformats.org/officeDocument/2006/relationships/notesMaster" Target="/ppt/notesMasters/notesMaster1.xml" Id="R96083f1f3ed042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e245aa239a4d60" /><Relationship Type="http://schemas.openxmlformats.org/officeDocument/2006/relationships/notesMaster" Target="/ppt/notesMasters/notesMaster1.xml" Id="Rbf0f2a14936f4a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4aeef34d484c12" /><Relationship Type="http://schemas.openxmlformats.org/officeDocument/2006/relationships/notesMaster" Target="/ppt/notesMasters/notesMaster1.xml" Id="Re535d62bff3447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6fa83f0d91445d" /><Relationship Type="http://schemas.openxmlformats.org/officeDocument/2006/relationships/notesMaster" Target="/ppt/notesMasters/notesMaster1.xml" Id="R56527783f2ea43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180adeb4244afe" /><Relationship Type="http://schemas.openxmlformats.org/officeDocument/2006/relationships/notesMaster" Target="/ppt/notesMasters/notesMaster1.xml" Id="R250abbcb3efe44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1bdd6ef6a14dd7" /><Relationship Type="http://schemas.openxmlformats.org/officeDocument/2006/relationships/notesMaster" Target="/ppt/notesMasters/notesMaster1.xml" Id="Rf939f7f8652a41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封面。右侧留出实景截图位，建议使用全域概览视角（开地形起伏与分级设色、关闭站点标注）。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开场一页把能力和岗位对齐。数据来自仓库 README 与 AGENTS.md 的功能与脚本清单。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架构总览页。分层与目录职责来自 AGENTS.md 第 4 节与 README 第二节。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契约字段与生命周期来自 src/core/platform/defineModule.js 与 moduleRegistry.js。强调 destroy 是强制项：Cesium 的实体、ScreenSpaceEventHandler、后处理阶段都不会自动回收。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模块与图层清单来自 AGENTS.md 第 6 节。惰性挂载语义见 moduleRegistry.setLayerVisible，验证脚本为 Node 契约测试。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状态与事件清单见 AGENTS.md 第 5.3 节。水位真值链路是关键设计：任何与水相关的表现都从 effectiveWaterLevel 派生，避免两套状态打架。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参数取值见 src/config/scene.js 与 src/core/cesium/viewerFactory.js。maxLevel 封顶的原因记录在 AGENTS.md 第 5.5.1 节：不封顶时飞高会把页面跑到无响应。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坐标纠偏实现见 src/core/cesium/gcj02.js 与 gcjTilingScheme.js，回归脚本 verify-gcj02.mjs。偏移量区间来自 AGENTS.md 第 5.6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实测数据见 AGENTS.md 第 5.5 与 5.5.1 节，复核脚本 _terrain-check.mjs 与 _dem-stats.mjs。FABDEM 为 Copernicus DEM GLO-30 的机器学习后处理产品，垂直基准 EGM2008。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算法实现见 src/core/cesium/geoUtils.js、src/core/terrainSamplerHolder.js 与 src/modules/analysis-flood.module.js。球面面积校核结果见 AGENTS.md 第 8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27.0 m 水位的三个口径与敏感性数据见 AGENTS.md 第 7.1 节。吴淞高程的换算依据来自用户提供的《吴淞高程系》词条：吴淞高程约等于 1985 国家高程基准加 1.83 至 1.87 m。结论口径：给区间与数据源，不给单值。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脚本清单与数据口径见 AGENTS.md 第 3、7 节与 README 第三节。水域面与岸线为 OpenStreetMap 数据（ODbL 1.0）。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脚本清单见 package.json 与 AGENTS.md 第 3、9 节。序列静默失效的教训写在 AGENTS.md 第 7 节铁律 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文档清单见仓库 docs 目录与根目录 README、AGENTS.md。强调可交接性：AGENTS.md 记录了踩坑与铁律，接手者不必重复踩。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截图要求：1920×1080 全屏、隐藏浏览器书签栏、关闭其他窗口。第一张用全域概览，第二张把时间轴拖到第 54 帧（7 月 20 日 14:00），第三张打开淹没分析并把水位设到 27.3 m，第四张画一条穿过江面的剖面线。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这页是为答辩准备的快速回答卡。每条结论的完整依据分别在 AGENTS.md 第 5.5.1（地形与夸张）、第 7.1（淹没口径）、第 5.3 与 5.6（状态与坐标）以及 moduleRegistry 契约说明中。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局限与演进来自 AGENTS.md 第 8 节"已知问题与未验证项"与"下一步候选"。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85e38058f49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c0abaae7c4521" /><Relationship Type="http://schemas.openxmlformats.org/officeDocument/2006/relationships/slideLayout" Target="/ppt/slideLayouts/slideLayout1.xml" Id="R3fccf1baac8242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ccf1baac8242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2276ba56a4b6f" /><Relationship Type="http://schemas.openxmlformats.org/officeDocument/2006/relationships/notesSlide" Target="/ppt/notesSlides/notesSlide1.xml" Id="R6ef3f0d3b304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63192317f438e" /><Relationship Type="http://schemas.openxmlformats.org/officeDocument/2006/relationships/notesSlide" Target="/ppt/notesSlides/notesSlide2.xml" Id="Rd4b4597674944b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b7bd066c24432" /><Relationship Type="http://schemas.openxmlformats.org/officeDocument/2006/relationships/notesSlide" Target="/ppt/notesSlides/notesSlide3.xml" Id="R48acef79391c49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be80fd3b47f7" /><Relationship Type="http://schemas.openxmlformats.org/officeDocument/2006/relationships/notesSlide" Target="/ppt/notesSlides/notesSlide4.xml" Id="R873c65c41f4442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f9dd4fd9c46f3" /><Relationship Type="http://schemas.openxmlformats.org/officeDocument/2006/relationships/notesSlide" Target="/ppt/notesSlides/notesSlide5.xml" Id="R6736b0dfc37240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2d65c488e4700" /><Relationship Type="http://schemas.openxmlformats.org/officeDocument/2006/relationships/notesSlide" Target="/ppt/notesSlides/notesSlide6.xml" Id="Rbb3b24fae3364c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48bbc53124be1" /><Relationship Type="http://schemas.openxmlformats.org/officeDocument/2006/relationships/notesSlide" Target="/ppt/notesSlides/notesSlide7.xml" Id="R7f4ff97f4b40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091ba267e4cbb" /><Relationship Type="http://schemas.openxmlformats.org/officeDocument/2006/relationships/notesSlide" Target="/ppt/notesSlides/notesSlide8.xml" Id="R2e1861ced00b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004a26661475d" /><Relationship Type="http://schemas.openxmlformats.org/officeDocument/2006/relationships/notesSlide" Target="/ppt/notesSlides/notesSlide9.xml" Id="R72582c8176c346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193ed52f94bde" /><Relationship Type="http://schemas.openxmlformats.org/officeDocument/2006/relationships/notesSlide" Target="/ppt/notesSlides/notesSlide10.xml" Id="R0639b372307f4d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e57375b34d77" /><Relationship Type="http://schemas.openxmlformats.org/officeDocument/2006/relationships/chart" Target="/ppt/slides/charts/chart1.xml" Id="R9bfd81b89e7b42c9" /><Relationship Type="http://schemas.openxmlformats.org/officeDocument/2006/relationships/notesSlide" Target="/ppt/notesSlides/notesSlide11.xml" Id="R21705f9910e04d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8d266b73d416c" /><Relationship Type="http://schemas.openxmlformats.org/officeDocument/2006/relationships/notesSlide" Target="/ppt/notesSlides/notesSlide12.xml" Id="R9f72518b64464e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6b851e67e4173" /><Relationship Type="http://schemas.openxmlformats.org/officeDocument/2006/relationships/notesSlide" Target="/ppt/notesSlides/notesSlide13.xml" Id="R96c4bda7123c43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f9567ee9549a2" /><Relationship Type="http://schemas.openxmlformats.org/officeDocument/2006/relationships/notesSlide" Target="/ppt/notesSlides/notesSlide14.xml" Id="Raedba67e1d5d4a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7ac30089b49de" /><Relationship Type="http://schemas.openxmlformats.org/officeDocument/2006/relationships/notesSlide" Target="/ppt/notesSlides/notesSlide15.xml" Id="R920b15a0227e47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c88b181bb40ac" /><Relationship Type="http://schemas.openxmlformats.org/officeDocument/2006/relationships/notesSlide" Target="/ppt/notesSlides/notesSlide16.xml" Id="R00c33f43d39644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6307d3684a56" /><Relationship Type="http://schemas.openxmlformats.org/officeDocument/2006/relationships/notesSlide" Target="/ppt/notesSlides/notesSlide17.xml" Id="Ref191716ea4e41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淹没面积</c:v>
          </c:tx>
          <c:spPr>
            <a:solidFill xmlns:a="http://schemas.openxmlformats.org/drawingml/2006/main">
              <a:srgbClr val="4FD1FF"/>
            </a:solidFill>
          </c:spPr>
          <c:cat>
            <c:strRef>
              <c:f>'Chart Data'!$A$2:$A$4</c:f>
              <c:strCache>
                <c:ptCount val="3"/>
                <c:pt idx="0">
                  <c:v>示意单元法</c:v>
                </c:pt>
                <c:pt idx="1">
                  <c:v>栅格连通法</c:v>
                </c:pt>
                <c:pt idx="2">
                  <c:v>不考虑堤防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375.8</c:v>
                </c:pt>
                <c:pt idx="1">
                  <c:v>266.9</c:v>
                </c:pt>
                <c:pt idx="2">
                  <c:v>1474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E8F1F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84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1E2E3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9DB3C7"/>
                    </a:solidFill>
                    <a:latin typeface="Microsoft YaHei"/>
                    <a:ea typeface="Microsoft YaHei"/>
                    <a:cs typeface="Microsoft YaHei"/>
                  </a:rPr>
                  <a:t>淹没面积 / km²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9DB3C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BD196-D8A9-48DE-9D03-483411A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55282-DFDC-48A6-B59E-BB8AD685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三维 GIS 平台研发作品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CCFE1-2609-4961-B347-6BAA6195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长江武汉段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三维时空数据可视化平台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57436-1FB2-4492-8111-2A1A4DF0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技术框架与开发流程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200DF-2805-4707-8734-F450EA4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BDE02-9210-478A-AB39-9690190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4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技术栈：Vue3、Vite、Cesium 1.97、ECharts、Pinia、原生 JavaScript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4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候选人姓名　　2026 年 10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C0283-F728-44CA-9587-90267C65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3619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6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2D21D-8935-4560-A611-63DCA591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封面截图位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35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替换为全域概览实景</a:t>
            </a:r>
          </a:p>
        </p:txBody>
      </p:sp>
    </p:spTree>
    <p:extLst>
      <p:ext uri="{BB962C8B-B14F-4D97-AF65-F5344CB8AC3E}">
        <p14:creationId xmlns:p14="http://schemas.microsoft.com/office/powerpoint/2010/main" val="100688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A964C-C26E-4DD3-8407-AA0A186C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能力与岗位的对应关系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93505-1001-488A-924A-58E0EF86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A5252-EA33-4D54-87CD-1B00D11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项目按三条能力线组织，每条线都能落到具体的代码与校核结果。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EE8E9-398C-4044-9D5D-EB9403A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5406390"/>
                <a:gridCol w="360426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能力线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在本项目中的体现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对应的岗位要求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三维引擎能力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Cesium 场景组织、地形与影像加载、坐标转换、渲染参数调优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三维可视化开发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平台框架能力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模块契约、注册中心、状态与事件分层、功能可插拔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平台架构与组件化设计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数据工程能力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取数、生成、校核三段式管线，数据源甄别与口径控制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空间数据接入与治理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工程规范能力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回归校核脚本、构建冒烟、可交接文档体系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团队协作与长期维护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3EE1A-84B9-4F50-84B4-192F1ED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项目规模：11 个功能模块、13 个图层、8 类演示数据、5 个自动校核脚本、约 5000 行前端代码（不含依赖）。</a:t>
            </a:r>
          </a:p>
        </p:txBody>
      </p:sp>
    </p:spTree>
    <p:extLst>
      <p:ext uri="{BB962C8B-B14F-4D97-AF65-F5344CB8AC3E}">
        <p14:creationId xmlns:p14="http://schemas.microsoft.com/office/powerpoint/2010/main" val="324766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AB904-C61B-4BAE-8D5C-EFB25B98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技术框架分层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03B2-66E4-485D-8FB0-DCBFC0FD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04216-884E-4E4B-B9EF-BDBA1DA8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六层结构，每层职责单一。新增功能只落在业务模块层，平台层不随功能增加而修改。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9B8B6-10EC-4094-843C-95AD3F7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5772150"/>
                <a:gridCol w="314325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代码位置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表现层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HUD 面板、图表、状态栏，全部自绘，不引入组件库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src/components/hud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业务模块层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个功能模块，全部实现同一份模块契约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src/modules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状态层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场景、时间、业务数据、导航历史四组状态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src/stores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平台层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模块契约、注册中心、上下文、事件总线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src/core/platform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引擎层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视图工厂、相机、坐标拾取、地形、空间计算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src/core/cesium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F1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数据层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空间要素、时空序列、本地 DEM 与淹没掩膜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public/data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23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C7119-A964-4852-B1BF-26F1F22F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模块契约与插件机制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12D9B-32CF-4AF8-A4F1-82BA1D9E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D998-4EAF-4C69-AC38-4133D8A8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契约把挂载、图层声明、卸载写成强制项，这是功能可插拔的前提。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6BA79-0D7D-4CE3-88C6-90A03B5D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B7324-A360-448D-954E-A684052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1B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54304-B948-4F90-ACE9-E66D237D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5715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export default defineModule({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id: 'water',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name: '水域与岸线',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group: '空间数据',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layers: [{ id: 'layer-water',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           name: '水域面' }],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init(ctx) {          // 挂载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  const viewer = ctx.viewer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  // 创建实体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  return { setLayerVisible(id, v) { } }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destroy(ctx, api) {  // 卸载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  // 按 id 移除实体、解绑事件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63" b="0">
                <a:solidFill>
                  <a:srgbClr val="BFE3F7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BFE3F7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37AF4-CE2F-4CAF-909B-4008BF5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E5623-3529-4198-BCAC-269C0031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62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CCA7D-69CC-48C4-8B30-F721FA0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3E1DB-F771-4AC8-AE65-264BA3E7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注册模块并声明图层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5038B-31FD-4596-A463-B8CFC1C5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03265-4BF2-4D13-BF97-74C1329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F168-86DE-4B4C-AFCE-3C239173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mount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DA603-9954-46B7-AF95-5380A94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创建实体，返回对外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290A9-74F4-447E-94C0-0FECBD5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CCFF6-D5C2-47BB-99F8-EF73652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5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9DEAF-B059-4CDB-9AC8-6F4F19E8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setLayerVisible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E210E-2B57-4E1F-8178-B2933641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图层开关透传到模块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D90C6-647A-40B6-A45F-F1A3A42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720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BD873-10F2-471B-ACBD-2852987F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05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08426-3EE3-41B8-8DEF-99F63A7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destroy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3717E-EC77-4C3A-AAAC-CEF6C825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67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回收实体、事件与计时器</a:t>
            </a:r>
          </a:p>
        </p:txBody>
      </p:sp>
    </p:spTree>
    <p:extLst>
      <p:ext uri="{BB962C8B-B14F-4D97-AF65-F5344CB8AC3E}">
        <p14:creationId xmlns:p14="http://schemas.microsoft.com/office/powerpoint/2010/main" val="1532713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85516-324D-440B-9241-BAFA211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注册中心与图层体系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48BDD-E5D3-4E7F-80E2-DD58C8C6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B8DC3-CD43-40FB-9262-0C2363C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图层树操作的对象是模块，不是场景对象。默认关闭的图层首次打开时才挂载模块。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7EAFC-AA36-49A1-9A25-F72BFE0D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2865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3429000"/>
                <a:gridCol w="1047750"/>
              </a:tblGrid>
              <a:tr h="3413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 id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图层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basemap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影像底图、地名注记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terrain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地形起伏与分级设色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water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水域面、岸线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bridges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跨江桥梁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stations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监测站点与数值标注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roads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主干道路网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timeline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无图层（服务型模块）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常驻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无图层（服务型模块）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常驻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analysis-measure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量算结果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analysis-profile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剖面线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41313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analysis-flood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淹没单元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298A0-603D-43CA-AB8C-7939A17A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4191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F2B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A620B-467D-4323-88EC-A6791AFD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惰性挂载要解决的问题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D4225-5D0A-49F1-A55E-AF3CDCB8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37338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主干道路网有 800 条线要素，淹没单元 8 个面要素。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启动时全部创建，用户会为看不见的图层付出初始化时间与显存。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现在的语义是图层第一次被打开，注册中心才挂载模块。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模块未实现图层 API 时，关闭图层等价于卸载模块。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三项语义都有 Node 契约测试。</a:t>
            </a:r>
          </a:p>
        </p:txBody>
      </p:sp>
    </p:spTree>
    <p:extLst>
      <p:ext uri="{BB962C8B-B14F-4D97-AF65-F5344CB8AC3E}">
        <p14:creationId xmlns:p14="http://schemas.microsoft.com/office/powerpoint/2010/main" val="294827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31D93-7ED3-454D-BC62-49556089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状态与事件的分工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C675A-656A-432E-8168-C0F3039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509A-5B74-44E6-A504-5AA5D99A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状态回答"现在是什么"，事件回答"刚刚发生了什么"。两者混用会导致刷新时序失控。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887B1-4ED4-4BC7-819E-267F5448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52578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3257550"/>
              </a:tblGrid>
              <a:tr h="396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Pinia 状态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time.index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当前时刻（0 至 95）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data.effectiveWaterLevel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水位真值（吴淞高程）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data.field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当前专题字段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scene.layers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图层可见性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scene.activeTool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当前分析工具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"/>
          <p:cNvGraphicFramePr/>
          <p:nvPr/>
        </p:nvGraphicFramePr>
        <p:xfrm>
          <a:off xmlns:a="http://schemas.openxmlformats.org/drawingml/2006/main" x="6248400" y="1828800"/>
          <a:ext xmlns:a="http://schemas.openxmlformats.org/drawingml/2006/main" cx="52578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876550"/>
              </a:tblGrid>
              <a:tr h="396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事件总线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触发时机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time:changed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时间轴推进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analysis:result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分析产出结果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analysis:cleared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清除分析结果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data:stationSelected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点选站点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layer:visibility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图层开关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59C22-0614-4EA5-BBA0-9011C7CA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B673E-BA9D-4467-A7D5-F1C5DFA4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时间轴或手动水位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7BA4C-04D0-4B4C-8FBF-A0B86B63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E58A0-3900-41B4-B892-71C69EF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52950"/>
            <a:ext cx="320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F"/>
          </a:solidFill>
          <a:ln xmlns:a="http://schemas.openxmlformats.org/drawingml/2006/main" w="9525">
            <a:solidFill>
              <a:srgbClr val="2C7C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7AB0B-0F37-415C-B824-D520890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81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4FD1FF"/>
                </a:solidFill>
                <a:latin typeface="Consolas"/>
                <a:ea typeface="Consolas"/>
                <a:cs typeface="Consolas"/>
              </a:rPr>
              <a:t>effectiveWaterLevel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76F6A-4986-4A5F-B5DE-AF129CD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2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0177C-0F40-42A2-B534-B6B5933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101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三维水面高程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EFB8D-AFC1-46A1-A676-51609700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816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E6320-9919-49B6-A975-750BAF2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292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淹没判定与面积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6BE43-192B-477D-AE90-A610E82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00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B145F-B3B2-42F6-9FBB-4C15625A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48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站点分级着色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D75C4-E199-49E4-AFAA-40AB3E8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019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B849B-EE26-43C9-A0A8-7DCE1037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8674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状态栏水位读数</a:t>
            </a:r>
          </a:p>
        </p:txBody>
      </p:sp>
    </p:spTree>
    <p:extLst>
      <p:ext uri="{BB962C8B-B14F-4D97-AF65-F5344CB8AC3E}">
        <p14:creationId xmlns:p14="http://schemas.microsoft.com/office/powerpoint/2010/main" val="1545501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5D0BE-2147-4424-B77C-BAAB45A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渲染层关键参数与取舍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A9E25-C6E2-48D0-96B4-D644F729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4817D-BD6D-4E11-BACA-E88E0877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这些参数决定了画面是否正确、是否清晰、以及在大范围飞行时会不会卡死。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33349-F81D-408F-8D16-490D527F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1809750"/>
                <a:gridCol w="5581650"/>
              </a:tblGrid>
              <a:tr h="51196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取值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imageryProvider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不使用 Cesium ion 令牌，底图完全由平台管理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depthTestAgainstTerrain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让地形遮挡水面，否则水面会盖住两岸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useBrowserRecommendedResolution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按物理像素渲染，避免高分屏底图发软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globe.maximumScreenSpaceError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同视距请求更高层级瓦片与更密地形网格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地形高度场 maxLevel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回调同步返回必须封顶，否则飞到 9 km 会无响应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地形瓦片缓存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 条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降低高度场重建开销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主干道入库要素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 条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从三万余条中筛选，控制要素数量与加载时间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28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45DBF-25D1-4584-B6FD-25AD0836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坐标系统一与底图纠偏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CCC68-13BE-4235-941B-93367B7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58A5C-53A7-453C-8EED-268DBE7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平台真值统一为 WGS-84，纠偏只作用在底图瓦片这一层，业务数据不做任何转换。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40F8B-9698-44C8-94C8-3EAA242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73D5-E7DF-4AA8-918B-C12AF25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C9ADF-2B00-4DFA-8542-BE2A516E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5FED9-94FE-479E-969D-97A3FC41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145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高德瓦片是 GCJ-02 加密坐标，与 WGS-84 在武汉段相差 568 至 604 m，方位 115° 至 120°。直接把矢量叠上去必然错位。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E2B7B-532F-435C-8DFF-CE6DE594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F"/>
          </a:solidFill>
          <a:ln xmlns:a="http://schemas.openxmlformats.org/drawingml/2006/main" w="9525">
            <a:solidFill>
              <a:srgbClr val="2C7C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06FEA-97EB-4A0C-A0BC-9FC6A835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9DAAE-E7E6-4FCE-A469-5F825F5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33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按高德网格请求瓦片，显示范围逆变换回 WGS-84。业务数据、量算、剖面采样、淹没判定全部保持 WGS-84。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3BED5-E02E-4365-B3FA-C20DE90F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26B24-0304-4801-A5F4-73935D6A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19613-4C71-4A37-9EDA-16896D3E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pnpm verify:gcj02：互转往返误差在 1e-8 m 量级，各层级贴图残差小于 0.5 px，相邻瓦片无缝隙。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B0D9C-2D52-4B89-8E8C-6889F49D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FFB70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B703"/>
                </a:solidFill>
                <a:latin typeface="Microsoft YaHei"/>
                <a:ea typeface="Microsoft YaHei"/>
                <a:cs typeface="Microsoft YaHei"/>
              </a:rPr>
              <a:t>固定偏移量不能替代纠偏：GCJ-02 是位置相关的非线性加密，偏移量沿河段从 604 m 变到 568 m，方位摆动 5°，只有按瓦片做变换才能全线对齐。</a:t>
            </a:r>
          </a:p>
        </p:txBody>
      </p:sp>
    </p:spTree>
    <p:extLst>
      <p:ext uri="{BB962C8B-B14F-4D97-AF65-F5344CB8AC3E}">
        <p14:creationId xmlns:p14="http://schemas.microsoft.com/office/powerpoint/2010/main" val="1938443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BE37D-D8E8-4BD3-8FC1-B2B80F5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地形数据甄别与本地 DEM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C9632-15C2-4567-8B59-FD5E6FB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D9F99-2024-476D-AC37-61D78025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在线全球地形在研究区是常数，这不是加载失败，而是数据本身被平滑掉了。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8FD6-98CA-400B-90F3-1FC3BD2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5905500" cy="3771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2238375"/>
                <a:gridCol w="1428750"/>
              </a:tblGrid>
              <a:tr h="4714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高程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ArcGIS 全球地形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武汉段任意点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24.8 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ArcGIS 全球地形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拉萨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4959.9 m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ArcGIS 全球地形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神农架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1223.5 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ArcGIS 全球地形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木兰山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286.3 m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FABDEM 格网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长江河道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 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FABDEM 格网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左岸地面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23.5 m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FABDEM 格网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珞珈山一带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105 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357A7-A18F-473F-877F-06D92518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6482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F2B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82B67-5B54-4576-9B3B-B0986461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0250"/>
            <a:ext cx="4191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服务本身正常：研究区外能测到正常起伏，研究区内所有位置都是 24.8 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6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方案：用本地 FABDEM 100 m 格网自建 CustomHeightmapTerrainProvider，离线可用。降级链为本地 DEM、在线地形、椭球面。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6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三个坑分别是不支持顶点法线（打光看不出地形）、垂直夸张必须网格与实体同步、高度场瓦片层级必须封顶。</a:t>
            </a:r>
          </a:p>
        </p:txBody>
      </p:sp>
    </p:spTree>
    <p:extLst>
      <p:ext uri="{BB962C8B-B14F-4D97-AF65-F5344CB8AC3E}">
        <p14:creationId xmlns:p14="http://schemas.microsoft.com/office/powerpoint/2010/main" val="1155199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EB4D0-5B71-4C95-8B96-5F7F0AF5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空间分析算法的实现与校核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60483-1962-49EF-8620-2D16228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74367-C40E-4DEE-B1E8-998CAEE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四类分析都在前端实现，不依赖第三方空间库，每一项都有对应的校核方式。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4EBC6-7EB2-4213-BEFB-07C87BFD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190750"/>
                <a:gridCol w="4091940"/>
                <a:gridCol w="2727960"/>
              </a:tblGrid>
              <a:tr h="6858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关键实现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校核方式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距离量算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椭球测地线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Cesium 的 surfaceDistance 累加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与平面近似比对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面积量算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球面多边形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自实现球面超额公式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赤道方格偏差 0.23%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剖面分析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沿线高程采样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DEM 采样器逐点采高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剖面不再是一条水平线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淹没分析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栅格判定与连通性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逐格比较水位、河道种子 BFS、堤防屏障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与示意单元法对比定区间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77E73-2499-41F2-A4F1-2041355B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两个实现细节：本地 DEM 没有 availability 属性，Cesium 的 sampleTerrainMostDetailed 无法使用，因此剖面走自定义采样器。水面高度用逐帧属性读取状态，避免为了更新时间轴而重建实体。</a:t>
            </a:r>
          </a:p>
        </p:txBody>
      </p:sp>
    </p:spTree>
    <p:extLst>
      <p:ext uri="{BB962C8B-B14F-4D97-AF65-F5344CB8AC3E}">
        <p14:creationId xmlns:p14="http://schemas.microsoft.com/office/powerpoint/2010/main" val="243908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1B360-3A02-4783-B01C-11CD4AF1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淹没分析的口径控制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FAF97-C892-4354-A6AF-E13A7C4A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D6F35-722B-45B3-A137-895A83E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同一个水位在三种口径下差 5.5 倍，所以面板与文档都不输出单一数字。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B08A6-600D-4297-B350-7027276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905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fd81b89e7b42c9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0" y="1885950"/>
          <a:ext xmlns:a="http://schemas.openxmlformats.org/drawingml/2006/main" cx="46482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4100"/>
                <a:gridCol w="23241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基准偏移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连通淹没面积（27 m）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+8.87 m（自动标定，已证伪）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267 km²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 m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1410 km²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 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5301 km²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 m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5591 km²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20624-9D8C-4998-A908-CEEF75DE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差值来源：堤防在 DEM 里只有 1 至 2 m，城区建筑与树冠会抬高地面，两者共同把连通区压缩。默认基准偏移取 +1.87 m（吴淞高程与 EGM2008 的换算关系，不确定度 ±0.5 m），堤防按"屏障"与"不设屏障"给出上下界。</a:t>
            </a:r>
          </a:p>
        </p:txBody>
      </p:sp>
    </p:spTree>
    <p:extLst>
      <p:ext uri="{BB962C8B-B14F-4D97-AF65-F5344CB8AC3E}">
        <p14:creationId xmlns:p14="http://schemas.microsoft.com/office/powerpoint/2010/main" val="1975178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060A6-F207-4DBB-ADC5-5327DA39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数据管线：取数、生成、校核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1F491-D462-4767-9FB8-061CFE1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59D75-6A1E-48D1-81E9-64B169B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数据与代码分离，每一步都能单独重跑，取不到就按既定链路回退。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4CF00-B4D2-44A9-97F8-69947F8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3BA5-92E6-481F-835D-F30EA25A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276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42F70-4919-4F0B-BBB0-39E1342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取数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2C937-C9F6-45A4-9C20-916B179F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fetch-water-osm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7AB2C-18BC-4185-B0E3-FF375788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fetch-dem-terrarium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BC32D-B7B9-4E09-ABD2-A8D714A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fetch-levees-osm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2AF4F-62DE-488D-A4FB-5E8ABB8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import-fabdem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3BA5A-1E07-4EB4-BB37-4D61828A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0ECC4-B50D-40F6-9751-49B62EEE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276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F"/>
          </a:solidFill>
          <a:ln xmlns:a="http://schemas.openxmlformats.org/drawingml/2006/main" w="9525">
            <a:solidFill>
              <a:srgbClr val="2C7C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924F1-8238-4C16-9687-75244F3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C304C-2441-4449-B6A0-243F7E87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build-data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CF515-ABC9-42EB-A83C-4D8CA58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真实水系派生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E58AD-10CF-462E-9FD7-14FE918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示意几何回退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F1BC0-3199-4987-8A81-67B6F45B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86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时序数据标定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A0BD9-B5E6-4B46-958F-40A4D7AA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0FE9D-1E3D-42D3-994C-4EA444D0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3276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38A78-0172-4AD2-BCAB-4DC402D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校核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DF9CB-70B3-4260-9590-6993CD5F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verify-data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A40E6-164E-4282-94E2-DE226E01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verify-gcj02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00EA2-C5A3-45DD-82A7-65256311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verify-ridge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52885-B31A-445C-BC01-4DCF660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9DB3C7"/>
                </a:solidFill>
                <a:latin typeface="Consolas"/>
                <a:ea typeface="Consolas"/>
                <a:cs typeface="Consolas"/>
              </a:rPr>
              <a:t>analyze-flood-raster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EC8BA-88C2-4523-A039-A4CF3B2C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回退链路：OpenStreetMap 水系取不到时回退到手写中心线的示意几何，本地 DEM 缺失时回退在线地形，再回退椭球面。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许可与署名随数据发布：水域面与岸线为 OSM 数据，ODbL 1.0，署名写进 meta.json 与 README。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可复现：脚本参数化，数据源路径可用环境变量覆盖，重新生成后刷新页面即可。</a:t>
            </a:r>
          </a:p>
        </p:txBody>
      </p:sp>
    </p:spTree>
    <p:extLst>
      <p:ext uri="{BB962C8B-B14F-4D97-AF65-F5344CB8AC3E}">
        <p14:creationId xmlns:p14="http://schemas.microsoft.com/office/powerpoint/2010/main" val="10462291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3F0F3-E74C-4CB8-BA28-F0147F5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质量保障与回归校核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FBC5A-8E89-43C9-A7B8-704F0053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4B0C6-4803-4EC6-BDB7-F4FAC5F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把验证写成脚本，而不是靠肉眼观察。每次改数据或改坐标相关代码都能一键回归。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39E8A-849A-4DBA-BFDF-980FF23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5391150"/>
                <a:gridCol w="2857500"/>
              </a:tblGrid>
              <a:tr h="555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校核内容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pnpm verify:data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环闭合、水位站落水、滩地贴岸距离、桥梁断面对照、自交检查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六节全部 PASS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pnpm verify:gcj02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坐标互转精度与各层级贴图残差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残差小于 0.5 px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pnpm verify:camera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飞到目标后目标点是否落在视图中心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偏差小于 50 m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pnpm verify:ridge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 反演堤线与 OSM 堤线对照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 54.4%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pnpm analyze:flood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基准标定、河道连通性、口径对比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输出区间与敏感性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2F3B0-3E22-4AC7-9157-1E75BEF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另有两层保障：注册中心用 Node 契约测试验证惰性挂载与批量销毁语义，改动后用开发服务器逐个请求模块与组件，确认无编译错误，再跑一次生产构建。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这套习惯来自踩过的坑：水位序列曾因为一个字段改名变成全 null，时间轴从此不再驱动水位，而界面没有任何报错。</a:t>
            </a:r>
          </a:p>
        </p:txBody>
      </p:sp>
    </p:spTree>
    <p:extLst>
      <p:ext uri="{BB962C8B-B14F-4D97-AF65-F5344CB8AC3E}">
        <p14:creationId xmlns:p14="http://schemas.microsoft.com/office/powerpoint/2010/main" val="13718566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D6435-F8B0-45D3-8677-136FB0D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开发流程与文档交付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48D13-52BA-4E0E-AB69-D6E7D58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52C1D-1327-4162-8BB8-D475392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流程固定为七步，每一步都有产物，目标是换人接手能按文档跑起来。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D952F-04E6-405E-8EF4-91B4EA28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E07E0-C86D-4CDA-B563-B53D0C5D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6F04A-3572-45F5-A872-6203C633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需求拆解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BB651-6247-4EFE-9ECA-CA2C4FB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C756-7786-4B95-B77B-A83A38D8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数据管线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87A9E-1F6A-4DD0-8CC4-E04ED34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2D7A7-B704-4130-82B8-3EF177A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平台骨架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1DD1D-7372-4C8E-97DD-9F2558FB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5D7E1-FDB6-4B2A-80C2-FDA15B96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8DE33-F72A-43CE-8EF5-65987FB3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2FEEA-6371-418B-A924-E15593B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回归校核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D072E-E50F-4E1A-A8CA-B9F5E5AD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CA3C7-07E8-481A-96BC-4E901EAC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文档同步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FA47-39B9-4F56-8EC9-05CF013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812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974DB-6BDF-4CEB-A10D-2C2721B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52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29337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7962900"/>
              </a:tblGrid>
              <a:tr h="4762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FD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1B2C3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README.md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功能清单、数据口径、运行步骤、演示动线、已知限制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项目上下文、硬性约束、架构铁律、改动后的验证清单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docs/简历项目条目.md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可直接粘贴到简历的项目描述与关键词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docs/录屏讲解脚本.md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分镜、解说词、录屏前准备与常见问题</a:t>
                      </a:r>
                    </a:p>
                  </a:txBody>
                  <a:tcPr marL="91440" marR="91440" marT="45720" marB="45720">
                    <a:solidFill>
                      <a:srgbClr val="0E162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docs/面试高频追问与参考答案.md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DB3C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十七个技术追问与参考回答</a:t>
                      </a:r>
                    </a:p>
                  </a:txBody>
                  <a:tcPr marL="91440" marR="91440" marT="45720" marB="45720">
                    <a:solidFill>
                      <a:srgbClr val="131F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254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5F416-9869-46FE-899C-92045E5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运行效果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ECD5A-153A-47EB-8A02-18FB2C2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39B7B-4B03-484C-BB36-98177B44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四张实景截图待补，替换下面的占位框即可。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710F5-9D0A-462A-BFB6-0C39210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7D046-E145-43A5-88A2-111ACD27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314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6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0CFD6-3A6B-448F-A9AD-C3EF66E1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93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全域概览　截图待补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64217-17B3-457E-9811-D78FA588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地形起伏与分级设色已打开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59F13-3617-4D26-9408-47BC9BF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5314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6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4DAC3-8CC5-4D6C-99DA-EE4EA07B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93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洪峰时刻　截图待补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AEAA7-8B4F-4EFC-91AD-7E98F093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水位站分级着色与超警戒告警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1133D-E9DF-48C9-9055-CE20693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314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6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F4562-7FB6-4914-85C8-50D97C48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93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淹没分析　截图待补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308BB-6FA4-4294-8067-9D52B7D0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栅格判定结果与面积输出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AF129-3ECA-4BC8-845A-38E7394D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314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6"/>
          </a:solidFill>
          <a:ln xmlns:a="http://schemas.openxmlformats.org/drawingml/2006/main" w="9525">
            <a:solidFill>
              <a:srgbClr val="2638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50CC7-7AF4-4C9B-88C6-E424376B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93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剖面分析　截图待补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D8B97-8C25-415C-9C43-C713993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5315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沿线高程曲线与剖面线</a:t>
            </a:r>
          </a:p>
        </p:txBody>
      </p:sp>
    </p:spTree>
    <p:extLst>
      <p:ext uri="{BB962C8B-B14F-4D97-AF65-F5344CB8AC3E}">
        <p14:creationId xmlns:p14="http://schemas.microsoft.com/office/powerpoint/2010/main" val="8260889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D5E89A-87F7-4F4B-9180-49E47D81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反直觉的技术选择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84800-31B6-4E6C-9605-B5C1EF6E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09F88-9555-4ED5-AE3F-FE4F32E2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以下八条是答辩时最容易被追问的地方，每一条都给出结论与依据。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B520A-85BB-45A3-9ECD-A230663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EEB6A-BBA3-4FE0-A0D8-FDAC551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0E366-5247-4EAF-AA2B-5DD5D2A4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为什么不用在线全球地形？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C1FB3-8AE8-438F-B047-E878603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该服务在研究区是常数 24.8 m，河床与丘陵都被抹平，只能自建本地 DEM 地形。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D101C-C9C6-425B-B5FB-567F337D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102CD-FD13-4582-AD28-9B8ECEA5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为什么要用 3 倍垂直夸张？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A3191-2318-4EED-B180-328D0FD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平原区真实起伏在常用视距下不足几个像素。夸张只影响显示，分析仍用真实高程。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FEC03-73BF-45B6-94C3-5D35CEE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6796B-F0C3-4E25-8009-9BE40D6E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为什么淹没面积给区间？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389D0-8517-4FCB-9B28-250CE58C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基准偏移 1 m 就让面积摆动 20 倍，堤顶高程没有权威来源，给区间比给单值可靠。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8D465-1306-4C63-8582-8995373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161E5-F81C-40B8-89F3-4433144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为什么水面用逐帧属性？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F08C9-EC63-4451-825F-9473AE43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重建实体会反复创建 GPU 资源，逐帧读状态的开销对二十多个站点可以忽略。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31EA4-481B-4683-B41D-480FA0A3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63B32-A4F2-4E39-A21B-2035B570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为什么业务数据不转 GCJ-02？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69CAA-C354-47F8-8D29-EF31DD9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业务真值必须与量算、剖面、淹没判定一致，纠偏只影响底图显示。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872FE-CEA6-4696-9B6F-ABB4D1C6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6EE03-63AE-43F2-86E1-6A6A7609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为什么不用组件库做 HUD？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8C53C-0459-4AF0-ABFB-E259E3D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演示原生 HTML 与 CSS 能力，同时避免组件库样式与三维画布争夺层级。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BA29A-3787-497A-A162-58BF714F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E13E3-2680-405C-883D-EEC14D0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为什么相机飞行不用 flyTo？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280F6-551F-4B31-926D-E111DED3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直接给目标点会被当成相机位置，带俯仰角时屏幕中心偏出数公里。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0DBE1-21B4-4A9E-97C5-C336899A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72100"/>
            <a:ext cx="531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A1A5B-F0C7-41E5-8302-7C33B23E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FD1FF"/>
                </a:solidFill>
                <a:latin typeface="Microsoft YaHei"/>
                <a:ea typeface="Microsoft YaHei"/>
                <a:cs typeface="Microsoft YaHei"/>
              </a:rPr>
              <a:t>为什么模块必须可卸载？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FB60E-95CF-4153-8AEB-4F1E5DAF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10250"/>
            <a:ext cx="489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Cesium 的实体、事件与后处理不会自动回收，契约把回收变成强制项。</a:t>
            </a:r>
          </a:p>
        </p:txBody>
      </p:sp>
    </p:spTree>
    <p:extLst>
      <p:ext uri="{BB962C8B-B14F-4D97-AF65-F5344CB8AC3E}">
        <p14:creationId xmlns:p14="http://schemas.microsoft.com/office/powerpoint/2010/main" val="1292347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1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328C6-C6BE-45D2-9672-EFC8381E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F1F8"/>
                </a:solidFill>
                <a:latin typeface="Microsoft YaHei"/>
                <a:ea typeface="Microsoft YaHei"/>
                <a:cs typeface="Microsoft YaHei"/>
              </a:rPr>
              <a:t>已知局限与演进路线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1AAD9-15DC-465C-A1FF-BA32493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3DB02-29E9-4B69-BA24-DB3936D4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边界讲清楚，比夸大能力更容易通过技术追问。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3E26C-C56A-4E54-B165-24DC3DBA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839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FB45F-D6FC-47B7-A000-C7128358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257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51E39-923E-483F-B124-B8753B24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70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B703"/>
                </a:solidFill>
                <a:latin typeface="Microsoft YaHei"/>
                <a:ea typeface="Microsoft YaHei"/>
                <a:cs typeface="Microsoft YaHei"/>
              </a:rPr>
              <a:t>已知局限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5F0C1-FA23-461A-9777-51E3242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800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没有后端、权限与多用户协同，属于平台的可视化与交互层。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DEM 分辨率不足以反演八到十米宽的堤顶高程。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淹没只做静态水位判定，未接入水动力模型。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滩地淹没单元仍是沿真实岸线外扩的示意几何。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浏览器端运行效果需要人工复核，代码层面只做了编译与数据校核。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7B241-7CC3-473A-8158-A065C0F9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257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1E2E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C8F80-29D7-4711-AC4C-3B9BA75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C8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C8A0"/>
                </a:solidFill>
                <a:latin typeface="Microsoft YaHei"/>
                <a:ea typeface="Microsoft YaHei"/>
                <a:cs typeface="Microsoft YaHei"/>
              </a:rPr>
              <a:t>演进路线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CFDB0-DC3D-4C0D-B0DD-29A057E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4800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接入 3D Tiles 城市与倾斜模型，验证平台调度能力。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DEM 升级到 30 m 级并做建筑掩膜，把淹没从区间收敛到单值。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数据接口化，把静态 JSON 换成后端服务并支持历史回放。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部署到可访问地址，在简历中提供在线演示链接。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3C7"/>
                </a:solidFill>
                <a:latin typeface="Microsoft YaHei"/>
                <a:ea typeface="Microsoft YaHei"/>
                <a:cs typeface="Microsoft YaHei"/>
              </a:rPr>
              <a:t>补性能监控面板，把帧率、实体数量与内存做成常驻读数。</a:t>
            </a:r>
          </a:p>
        </p:txBody>
      </p:sp>
    </p:spTree>
    <p:extLst>
      <p:ext uri="{BB962C8B-B14F-4D97-AF65-F5344CB8AC3E}">
        <p14:creationId xmlns:p14="http://schemas.microsoft.com/office/powerpoint/2010/main" val="982223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2026-10-05T12:42:15.0030000Z</dcterms:created>
  <dcterms:modified xsi:type="dcterms:W3CDTF">2026-10-05T12:42:15.0030000Z</dcterms:modified>
</coreProperties>
</file>